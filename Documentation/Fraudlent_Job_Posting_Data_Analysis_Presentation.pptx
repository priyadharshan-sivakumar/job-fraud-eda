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06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Exploratory Data Analysis of</a:t>
            </a:r>
            <a:br/>
            <a:r>
              <a:t>Online Job Postings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DCE6F0"/>
                </a:solidFill>
              </a:defRPr>
            </a:pPr>
            <a:r>
              <a:t>Understanding Patterns Associated with Recruitment Fraud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Recruitment / Employment Industry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09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Priyadharshan Sivakumar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66360"/>
            <a:ext cx="8686800" cy="283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D2DCE8"/>
                </a:solidFill>
              </a:defRPr>
            </a:pPr>
            <a:r>
              <a:t>Student ID: </a:t>
            </a:r>
            <a:r>
              <a:rPr lang="en-IN"/>
              <a:t>AF05311608</a:t>
            </a:r>
            <a:r>
              <a:t> |  Course: AIML  |  Batch Code: </a:t>
            </a:r>
            <a:r>
              <a:rPr lang="en-IN"/>
              <a:t>ANP-D7444</a:t>
            </a:r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731520" y="5989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ED2"/>
                </a:solidFill>
              </a:defRPr>
            </a:pPr>
            <a:r>
              <a:t>Python Data Analysis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63F"/>
                </a:solidFill>
              </a:defRPr>
            </a:pPr>
            <a:r>
              <a:t>Industry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9848"/>
            <a:ext cx="11155680" cy="32004"/>
          </a:xfrm>
          <a:prstGeom prst="rect">
            <a:avLst/>
          </a:prstGeom>
          <a:solidFill>
            <a:srgbClr val="2B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1874519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8775"/>
                </a:solidFill>
              </a:defRPr>
            </a:pPr>
            <a:r>
              <a:t>Selected Industry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47672"/>
            <a:ext cx="306324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A32"/>
                </a:solidFill>
              </a:defRPr>
            </a:pPr>
            <a:r>
              <a:t>Recruitment / Employment</a:t>
            </a:r>
            <a:br/>
            <a:br/>
            <a:r>
              <a:t>Online job platforms connect employers and job seekers through job advertisements.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874519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F91"/>
                </a:solidFill>
              </a:defRPr>
            </a:pPr>
            <a:r>
              <a:t>Industry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47672"/>
            <a:ext cx="306324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A32"/>
                </a:solidFill>
              </a:defRPr>
            </a:pPr>
            <a:r>
              <a:t>Job platforms can contain both genuine employment opportunities and fraudulent postings.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17320"/>
            <a:ext cx="3429000" cy="1874519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5544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8775"/>
                </a:solidFill>
              </a:defRPr>
            </a:pPr>
            <a:r>
              <a:t>Role of Data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1947672"/>
            <a:ext cx="306324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A32"/>
                </a:solidFill>
              </a:defRPr>
            </a:pPr>
            <a:r>
              <a:t>Data analysis helps examine job-posting characteristics and identify patterns associated with recorded fraud labels.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263F"/>
                </a:solidFill>
              </a:defRPr>
            </a:pPr>
            <a:r>
              <a:t>Project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519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A32"/>
                </a:solidFill>
              </a:defRPr>
            </a:pPr>
            <a:r>
              <a:t>Job characteristics and employment information</a:t>
            </a:r>
          </a:p>
          <a:p>
            <a:pPr>
              <a:spcAft>
                <a:spcPts val="900"/>
              </a:spcAft>
              <a:defRPr sz="1500">
                <a:solidFill>
                  <a:srgbClr val="232A32"/>
                </a:solidFill>
              </a:defRPr>
            </a:pPr>
            <a:r>
              <a:t>Company and recruitment-related indicators</a:t>
            </a:r>
          </a:p>
          <a:p>
            <a:pPr>
              <a:spcAft>
                <a:spcPts val="900"/>
              </a:spcAft>
              <a:defRPr sz="1500">
                <a:solidFill>
                  <a:srgbClr val="232A32"/>
                </a:solidFill>
              </a:defRPr>
            </a:pPr>
            <a:r>
              <a:t>Industry patterns</a:t>
            </a:r>
          </a:p>
          <a:p>
            <a:pPr>
              <a:spcAft>
                <a:spcPts val="900"/>
              </a:spcAft>
              <a:defRPr sz="1500">
                <a:solidFill>
                  <a:srgbClr val="232A32"/>
                </a:solidFill>
              </a:defRPr>
            </a:pPr>
            <a:r>
              <a:t>Text characteristics of job descriptions, company profiles and requirements</a:t>
            </a:r>
          </a:p>
          <a:p>
            <a:pPr>
              <a:spcAft>
                <a:spcPts val="900"/>
              </a:spcAft>
              <a:defRPr sz="1500">
                <a:solidFill>
                  <a:srgbClr val="232A32"/>
                </a:solidFill>
              </a:defRPr>
            </a:pPr>
            <a:r>
              <a:t>Statistical association between company-logo presence and the fraud 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63F"/>
                </a:solidFill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9848"/>
            <a:ext cx="11155680" cy="32004"/>
          </a:xfrm>
          <a:prstGeom prst="rect">
            <a:avLst/>
          </a:prstGeom>
          <a:solidFill>
            <a:srgbClr val="2B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263F"/>
                </a:solidFill>
              </a:defRPr>
            </a:pPr>
            <a:r>
              <a:t>Online job platforms contain genuine employment opportunities as well as fraudulent postings.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A32"/>
                </a:solidFill>
              </a:defRPr>
            </a:pPr>
            <a:r>
              <a:t>Identifying patterns associated with suspicious job advertisements can help understand potential recruitment risks.</a:t>
            </a:r>
          </a:p>
          <a:p>
            <a:pPr>
              <a:spcAft>
                <a:spcPts val="900"/>
              </a:spcAft>
              <a:defRPr sz="1700">
                <a:solidFill>
                  <a:srgbClr val="232A32"/>
                </a:solidFill>
              </a:defRPr>
            </a:pPr>
            <a:r>
              <a:t>The project examines job-posting characteristics in relation to the recorded fraudulent label.</a:t>
            </a:r>
          </a:p>
          <a:p>
            <a:pPr>
              <a:spcAft>
                <a:spcPts val="900"/>
              </a:spcAft>
              <a:defRPr sz="1700">
                <a:solidFill>
                  <a:srgbClr val="232A32"/>
                </a:solidFill>
              </a:defRPr>
            </a:pPr>
            <a:r>
              <a:t>The analysis covers company profile availability, salary disclosure, employment type, job-description length, industry, location and recruitment-related indicators.</a:t>
            </a:r>
          </a:p>
          <a:p>
            <a:pPr>
              <a:spcAft>
                <a:spcPts val="900"/>
              </a:spcAft>
              <a:defRPr sz="1700">
                <a:solidFill>
                  <a:srgbClr val="232A32"/>
                </a:solidFill>
              </a:defRPr>
            </a:pPr>
            <a:r>
              <a:t>The project distinguishes observed patterns and statistical associations from evidence that a particular posting is fraudulent.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32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F91"/>
                </a:solidFill>
              </a:defRPr>
            </a:pPr>
            <a:r>
              <a:t>Affected stakeholders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5504688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A32"/>
                </a:solidFill>
              </a:defRPr>
            </a:pPr>
            <a:r>
              <a:t>Job seekers  •  Recruitment platforms  •  Employers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63F"/>
                </a:solidFill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9848"/>
            <a:ext cx="11155680" cy="32004"/>
          </a:xfrm>
          <a:prstGeom prst="rect">
            <a:avLst/>
          </a:prstGeom>
          <a:solidFill>
            <a:srgbClr val="2B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325880"/>
            <a:ext cx="594360" cy="594360"/>
          </a:xfrm>
          <a:prstGeom prst="ellipse">
            <a:avLst/>
          </a:prstGeom>
          <a:solidFill>
            <a:srgbClr val="2B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399032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A32"/>
                </a:solidFill>
              </a:defRPr>
            </a:pPr>
            <a:r>
              <a:t>Understand the dataset structure and data quality.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258568"/>
            <a:ext cx="594360" cy="594360"/>
          </a:xfrm>
          <a:prstGeom prst="ellipse">
            <a:avLst/>
          </a:prstGeom>
          <a:solidFill>
            <a:srgbClr val="2B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77439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33172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A32"/>
                </a:solidFill>
              </a:defRPr>
            </a:pPr>
            <a:r>
              <a:t>Identify missing, duplicate and inconsistent data.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191256"/>
            <a:ext cx="594360" cy="594360"/>
          </a:xfrm>
          <a:prstGeom prst="ellipse">
            <a:avLst/>
          </a:prstGeom>
          <a:solidFill>
            <a:srgbClr val="2B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1012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264408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A32"/>
                </a:solidFill>
              </a:defRPr>
            </a:pPr>
            <a:r>
              <a:t>Clean and prepare the dataset for analysis.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123944"/>
            <a:ext cx="594360" cy="594360"/>
          </a:xfrm>
          <a:prstGeom prst="ellipse">
            <a:avLst/>
          </a:prstGeom>
          <a:solidFill>
            <a:srgbClr val="2B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197096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A32"/>
                </a:solidFill>
              </a:defRPr>
            </a:pPr>
            <a:r>
              <a:t>Analyze genuine vs. fraudulent job postings and related characteristics.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5056632"/>
            <a:ext cx="594360" cy="594360"/>
          </a:xfrm>
          <a:prstGeom prst="ellipse">
            <a:avLst/>
          </a:prstGeom>
          <a:solidFill>
            <a:srgbClr val="2B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175504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5129784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A32"/>
                </a:solidFill>
              </a:defRPr>
            </a:pPr>
            <a:r>
              <a:t>Visualize important patterns and perform statistical analysis.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63F"/>
                </a:solidFill>
              </a:defRPr>
            </a:pPr>
            <a:r>
              <a:t>Proposed Solution &amp; Analysis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9848"/>
            <a:ext cx="11155680" cy="32004"/>
          </a:xfrm>
          <a:prstGeom prst="rect">
            <a:avLst/>
          </a:prstGeom>
          <a:solidFill>
            <a:srgbClr val="2B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B5F91"/>
                </a:solidFill>
              </a:defRPr>
            </a:pPr>
            <a: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A32"/>
                </a:solidFill>
              </a:defRPr>
            </a:pPr>
            <a:r>
              <a:t>Use Python-based data cleaning, exploratory analysis, visualization and statistical testing to examine patterns associated with the recorded fraudulent label.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B5F91"/>
                </a:solidFill>
              </a:defRPr>
            </a:pPr>
            <a:r>
              <a:t>Analysis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A32"/>
                </a:solidFill>
              </a:defRPr>
            </a:pPr>
            <a:r>
              <a:t>What is the distribution of genuine and fraudulent postings?</a:t>
            </a:r>
          </a:p>
          <a:p>
            <a:pPr>
              <a:spcAft>
                <a:spcPts val="900"/>
              </a:spcAft>
              <a:defRPr sz="1400">
                <a:solidFill>
                  <a:srgbClr val="232A32"/>
                </a:solidFill>
              </a:defRPr>
            </a:pPr>
            <a:r>
              <a:t>How does fraud vary across employment types?</a:t>
            </a:r>
          </a:p>
          <a:p>
            <a:pPr>
              <a:spcAft>
                <a:spcPts val="900"/>
              </a:spcAft>
              <a:defRPr sz="1400">
                <a:solidFill>
                  <a:srgbClr val="232A32"/>
                </a:solidFill>
              </a:defRPr>
            </a:pPr>
            <a:r>
              <a:t>How does fraud vary across industries?</a:t>
            </a:r>
          </a:p>
          <a:p>
            <a:pPr>
              <a:spcAft>
                <a:spcPts val="900"/>
              </a:spcAft>
              <a:defRPr sz="1400">
                <a:solidFill>
                  <a:srgbClr val="232A32"/>
                </a:solidFill>
              </a:defRPr>
            </a:pPr>
            <a:r>
              <a:t>How is company-logo presence associated with the fraud label?</a:t>
            </a:r>
          </a:p>
          <a:p>
            <a:pPr>
              <a:spcAft>
                <a:spcPts val="900"/>
              </a:spcAft>
              <a:defRPr sz="1400">
                <a:solidFill>
                  <a:srgbClr val="232A32"/>
                </a:solidFill>
              </a:defRPr>
            </a:pPr>
            <a:r>
              <a:t>How do screening questions and telecommuting relate to the fraud label?</a:t>
            </a:r>
          </a:p>
          <a:p>
            <a:pPr>
              <a:spcAft>
                <a:spcPts val="900"/>
              </a:spcAft>
              <a:defRPr sz="1400">
                <a:solidFill>
                  <a:srgbClr val="232A32"/>
                </a:solidFill>
              </a:defRPr>
            </a:pPr>
            <a:r>
              <a:t>Do text-length characteristics differ between genuine and fraudulent postings?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63F"/>
                </a:solidFill>
              </a:defRPr>
            </a:pPr>
            <a:r>
              <a:t>Dataset Information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9848"/>
            <a:ext cx="11155680" cy="32004"/>
          </a:xfrm>
          <a:prstGeom prst="rect">
            <a:avLst/>
          </a:prstGeom>
          <a:solidFill>
            <a:srgbClr val="2B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2900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F91"/>
                </a:solidFill>
              </a:defRPr>
            </a:pPr>
            <a:r>
              <a:t>Dataset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56231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A32"/>
                </a:solidFill>
              </a:defRPr>
            </a:pPr>
            <a:r>
              <a:t>`fake_job_postings.csv`</a:t>
            </a:r>
            <a:br/>
            <a:r>
              <a:t>`Job_Fraudlent_Cleaned_Dataset.csv`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630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8775"/>
                </a:solidFill>
              </a:defRPr>
            </a:pPr>
            <a:r>
              <a:t>Combined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56231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A32"/>
                </a:solidFill>
              </a:defRPr>
            </a:pPr>
            <a:r>
              <a:t>35,479 rows</a:t>
            </a:r>
            <a:br/>
            <a:r>
              <a:t>18 columns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25880"/>
            <a:ext cx="342900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4630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F91"/>
                </a:solidFill>
              </a:defRPr>
            </a:pPr>
            <a:r>
              <a:t>File format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1856231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A32"/>
                </a:solidFill>
              </a:defRPr>
            </a:pPr>
            <a:r>
              <a:t>CSV files</a:t>
            </a:r>
            <a:br/>
            <a:r>
              <a:t>Loaded with Pandas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63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6263F"/>
                </a:solidFill>
              </a:defRPr>
            </a:pPr>
            <a:r>
              <a:t>Important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2044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A32"/>
                </a:solidFill>
              </a:defRPr>
            </a:pPr>
            <a:r>
              <a:t>`job_id`, `title`, `location`, `department`, `salary_range`, `company_profile`, `description`, `requirements`, `benefits`, `telecommuting`, `has_company_logo`, `has_questions`, `employment_type`, `required_experience`, `required_education`, `industry`, `function`, `fraudulent`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92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263F"/>
                </a:solidFill>
              </a:defRPr>
            </a:pPr>
            <a:r>
              <a:t>Target variable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486460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A32"/>
                </a:solidFill>
              </a:defRPr>
            </a:pPr>
            <a:r>
              <a:t>`fraudulent`: 0 = genuine, 1 = fraudulent, NaN = missing/unknown label.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6E78"/>
                </a:solidFill>
              </a:defRPr>
            </a:pPr>
            <a:r>
              <a:t>Dataset source URL: Not specified in the notebook.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63F"/>
                </a:solidFill>
              </a:defRPr>
            </a:pPr>
            <a:r>
              <a:t>Data Collection &amp;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9848"/>
            <a:ext cx="11155680" cy="32004"/>
          </a:xfrm>
          <a:prstGeom prst="rect">
            <a:avLst/>
          </a:prstGeom>
          <a:solidFill>
            <a:srgbClr val="2B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A32"/>
                </a:solidFill>
              </a:defRPr>
            </a:pPr>
            <a:r>
              <a:t>Two CSV files are loaded using Pandas and combined using `pd.concat()`.</a:t>
            </a:r>
          </a:p>
          <a:p>
            <a:pPr>
              <a:spcAft>
                <a:spcPts val="900"/>
              </a:spcAft>
              <a:defRPr sz="1500">
                <a:solidFill>
                  <a:srgbClr val="232A32"/>
                </a:solidFill>
              </a:defRPr>
            </a:pPr>
            <a:r>
              <a:t>Initial combined dataset: 35,479 rows × 18 columns.</a:t>
            </a:r>
          </a:p>
          <a:p>
            <a:pPr>
              <a:spcAft>
                <a:spcPts val="900"/>
              </a:spcAft>
              <a:defRPr sz="1500">
                <a:solidFill>
                  <a:srgbClr val="232A32"/>
                </a:solidFill>
              </a:defRPr>
            </a:pPr>
            <a:r>
              <a:t>Data types: 1 float column, 4 integer columns and 13 string columns.</a:t>
            </a:r>
          </a:p>
          <a:p>
            <a:pPr>
              <a:spcAft>
                <a:spcPts val="900"/>
              </a:spcAft>
              <a:defRPr sz="1500">
                <a:solidFill>
                  <a:srgbClr val="232A32"/>
                </a:solidFill>
              </a:defRPr>
            </a:pPr>
            <a:r>
              <a:t>The raw inspection found 5,599 missing `fraudulent` labels.</a:t>
            </a:r>
          </a:p>
          <a:p>
            <a:pPr>
              <a:spcAft>
                <a:spcPts val="900"/>
              </a:spcAft>
              <a:defRPr sz="1500">
                <a:solidFill>
                  <a:srgbClr val="232A32"/>
                </a:solidFill>
              </a:defRPr>
            </a:pPr>
            <a:r>
              <a:t>Exact duplicate rows identified during initial inspection: 269.</a:t>
            </a:r>
          </a:p>
          <a:p>
            <a:pPr>
              <a:spcAft>
                <a:spcPts val="900"/>
              </a:spcAft>
              <a:defRPr sz="1500">
                <a:solidFill>
                  <a:srgbClr val="232A32"/>
                </a:solidFill>
              </a:defRPr>
            </a:pPr>
            <a:r>
              <a:t>The largest missing-value counts were in `salary_range` (15,012), `department` (11,553), `required_education` (8,105), and `benefits` (7,220).</a:t>
            </a:r>
          </a:p>
          <a:p>
            <a:pPr>
              <a:spcAft>
                <a:spcPts val="900"/>
              </a:spcAft>
              <a:defRPr sz="1500">
                <a:solidFill>
                  <a:srgbClr val="232A32"/>
                </a:solidFill>
              </a:defRPr>
            </a:pPr>
            <a:r>
              <a:t>The fraud label distribution before cleaning was 28,425 genuine, 1,455 fraudulent and 5,599 missing.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715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5F91"/>
                </a:solidFill>
              </a:defRPr>
            </a:pPr>
            <a:r>
              <a:t>Notebook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568756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E78"/>
                </a:solidFill>
              </a:defRPr>
            </a:pPr>
            <a:r>
              <a:t>`df.info()`  •  `df.describe()`  •  missing-value summary  •  duplicate checks  •  `value_counts()`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63F"/>
                </a:solidFill>
              </a:defRPr>
            </a:pPr>
            <a:r>
              <a:t>Data Cleaning &amp; Transformation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9848"/>
            <a:ext cx="11155680" cy="32004"/>
          </a:xfrm>
          <a:prstGeom prst="rect">
            <a:avLst/>
          </a:prstGeom>
          <a:solidFill>
            <a:srgbClr val="2B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1663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F91"/>
                </a:solidFill>
              </a:defRPr>
            </a:pPr>
            <a:r>
              <a:t>Duplicate removal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56231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A32"/>
                </a:solidFill>
              </a:defRPr>
            </a:pPr>
            <a:r>
              <a:t>Exact duplicate rows are removed using `drop_duplicates()`.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25880"/>
            <a:ext cx="51663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8775"/>
                </a:solidFill>
              </a:defRPr>
            </a:pPr>
            <a:r>
              <a:t>Text cleaning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56231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A32"/>
                </a:solidFill>
              </a:defRPr>
            </a:pPr>
            <a:r>
              <a:t>Extra spaces are removed from string columns using `.str.strip()`.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34639"/>
            <a:ext cx="51663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7179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F91"/>
                </a:solidFill>
              </a:defRPr>
            </a:pPr>
            <a:r>
              <a:t>Missing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64991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A32"/>
                </a:solidFill>
              </a:defRPr>
            </a:pPr>
            <a:r>
              <a:t>Missing categorical/text fields are filled with values such as `unknown`, `not_mentioned`, `Not_Applicable` and `Unspecified`.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834639"/>
            <a:ext cx="51663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97179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8775"/>
                </a:solidFill>
              </a:defRPr>
            </a:pPr>
            <a:r>
              <a:t>Target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64991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A32"/>
                </a:solidFill>
              </a:defRPr>
            </a:pPr>
            <a:r>
              <a:t>`fraudulent` is converted to numeric; missing fraud labels remain missing.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343400"/>
            <a:ext cx="51663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8056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F91"/>
                </a:solidFill>
              </a:defRPr>
            </a:pPr>
            <a:r>
              <a:t>Feature creation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73752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A32"/>
                </a:solidFill>
              </a:defRPr>
            </a:pPr>
            <a:r>
              <a:t>Creates description length, description word count, company profile length and requirements length.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343400"/>
            <a:ext cx="51663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48056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8775"/>
                </a:solidFill>
              </a:defRPr>
            </a:pPr>
            <a:r>
              <a:t>Final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873752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A32"/>
                </a:solidFill>
              </a:defRPr>
            </a:pPr>
            <a:r>
              <a:t>Checks duplicates, missing values, data types and final shape.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9893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263F"/>
                </a:solidFill>
              </a:defRPr>
            </a:pPr>
            <a:r>
              <a:t>Final cleaned dataframe: 29,577 rows × 18 columns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63F"/>
                </a:solidFill>
              </a:defRPr>
            </a:pPr>
            <a:r>
              <a:t>Exploratory Data Analysis (EDA)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9848"/>
            <a:ext cx="11155680" cy="32004"/>
          </a:xfrm>
          <a:prstGeom prst="rect">
            <a:avLst/>
          </a:prstGeom>
          <a:solidFill>
            <a:srgbClr val="2B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A32"/>
                </a:solidFill>
              </a:defRPr>
            </a:pPr>
            <a:r>
              <a:t>Fraud-label distribution: 22,805 genuine (95.11%) and 1,173 fraudulent (4.89%) labelled postings.</a:t>
            </a:r>
          </a:p>
          <a:p>
            <a:pPr>
              <a:spcAft>
                <a:spcPts val="900"/>
              </a:spcAft>
              <a:defRPr sz="1600">
                <a:solidFill>
                  <a:srgbClr val="232A32"/>
                </a:solidFill>
              </a:defRPr>
            </a:pPr>
            <a:r>
              <a:t>Categorical analysis covers employment type, required experience, required education, industry and function.</a:t>
            </a:r>
          </a:p>
          <a:p>
            <a:pPr>
              <a:spcAft>
                <a:spcPts val="900"/>
              </a:spcAft>
              <a:defRPr sz="1600">
                <a:solidFill>
                  <a:srgbClr val="232A32"/>
                </a:solidFill>
              </a:defRPr>
            </a:pPr>
            <a:r>
              <a:t>Recruitment indicators analyzed: company-logo presence, screening questions and telecommuting.</a:t>
            </a:r>
          </a:p>
          <a:p>
            <a:pPr>
              <a:spcAft>
                <a:spcPts val="900"/>
              </a:spcAft>
              <a:defRPr sz="1600">
                <a:solidFill>
                  <a:srgbClr val="232A32"/>
                </a:solidFill>
              </a:defRPr>
            </a:pPr>
            <a:r>
              <a:t>Text features compare description length, description word count, company-profile length and requirements length.</a:t>
            </a:r>
          </a:p>
          <a:p>
            <a:pPr>
              <a:spcAft>
                <a:spcPts val="900"/>
              </a:spcAft>
              <a:defRPr sz="1600">
                <a:solidFill>
                  <a:srgbClr val="232A32"/>
                </a:solidFill>
              </a:defRPr>
            </a:pPr>
            <a:r>
              <a:t>Top fraudulent-posting counts by industry include unknown (373), Oil &amp; Energy (141), Hospital &amp; Health Care (74), Marketing and Advertising (70) and Accounting (67).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394960"/>
            <a:ext cx="3429000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5321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F91"/>
                </a:solidFill>
              </a:defRPr>
            </a:pPr>
            <a:r>
              <a:t>Fraud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925312"/>
            <a:ext cx="30632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A32"/>
                </a:solidFill>
              </a:defRPr>
            </a:pPr>
            <a:r>
              <a:t>4.89% of labelled postings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5394960"/>
            <a:ext cx="3429000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55321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8775"/>
                </a:solidFill>
              </a:defRPr>
            </a:pPr>
            <a:r>
              <a:t>Genuine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925312"/>
            <a:ext cx="30632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A32"/>
                </a:solidFill>
              </a:defRPr>
            </a:pPr>
            <a:r>
              <a:t>22,805 labelled postings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5394960"/>
            <a:ext cx="3429000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55321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F91"/>
                </a:solidFill>
              </a:defRPr>
            </a:pPr>
            <a:r>
              <a:t>Fraudulent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5925312"/>
            <a:ext cx="30632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A32"/>
                </a:solidFill>
              </a:defRPr>
            </a:pPr>
            <a:r>
              <a:t>1,173 labelled postings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63F"/>
                </a:solidFill>
              </a:defRPr>
            </a:pPr>
            <a:r>
              <a:t>Data Visualization – Actual Notebook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9848"/>
            <a:ext cx="11155680" cy="32004"/>
          </a:xfrm>
          <a:prstGeom prst="rect">
            <a:avLst/>
          </a:prstGeom>
          <a:solidFill>
            <a:srgbClr val="2B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E78"/>
                </a:solidFill>
              </a:defRPr>
            </a:pPr>
            <a:r>
              <a:t>The following charts are the visualizations embedded in the executed notebook.</a:t>
            </a:r>
          </a:p>
        </p:txBody>
      </p:sp>
      <p:pic>
        <p:nvPicPr>
          <p:cNvPr id="6" name="Picture 5" descr="chart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5486400" cy="4343400"/>
          </a:xfrm>
          <a:prstGeom prst="rect">
            <a:avLst/>
          </a:prstGeom>
        </p:spPr>
      </p:pic>
      <p:pic>
        <p:nvPicPr>
          <p:cNvPr id="7" name="Picture 6" descr="char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349240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893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2A32"/>
                </a:solidFill>
              </a:defRPr>
            </a:pPr>
            <a:r>
              <a:t>Missing values before cleaning → identifies columns requiring preprocessing.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9893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2A32"/>
                </a:solidFill>
              </a:defRPr>
            </a:pPr>
            <a:r>
              <a:t>Genuine vs fraudulent postings → shows the recorded label distribution.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63F"/>
                </a:solidFill>
              </a:defRPr>
            </a:pPr>
            <a:r>
              <a:t>Data Visualization – Recruitment &amp; Text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9848"/>
            <a:ext cx="11155680" cy="32004"/>
          </a:xfrm>
          <a:prstGeom prst="rect">
            <a:avLst/>
          </a:prstGeom>
          <a:solidFill>
            <a:srgbClr val="2B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rt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3657600" cy="2606040"/>
          </a:xfrm>
          <a:prstGeom prst="rect">
            <a:avLst/>
          </a:prstGeom>
        </p:spPr>
      </p:pic>
      <p:pic>
        <p:nvPicPr>
          <p:cNvPr id="6" name="Picture 5" descr="char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325880"/>
            <a:ext cx="3657600" cy="2606040"/>
          </a:xfrm>
          <a:prstGeom prst="rect">
            <a:avLst/>
          </a:prstGeom>
        </p:spPr>
      </p:pic>
      <p:pic>
        <p:nvPicPr>
          <p:cNvPr id="7" name="Picture 6" descr="chart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75" y="1325880"/>
            <a:ext cx="3657600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096512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2A32"/>
                </a:solidFill>
              </a:defRPr>
            </a:pPr>
            <a:r>
              <a:t>Fraud percentage by employment type → compares fraud proportions across employment categories.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1688" y="4096512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2A32"/>
                </a:solidFill>
              </a:defRPr>
            </a:pPr>
            <a:r>
              <a:t>Company logo vs fraud label → compares the recorded fraud label by logo presence.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9016" y="4096512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2A32"/>
                </a:solidFill>
              </a:defRPr>
            </a:pPr>
            <a:r>
              <a:t>Job description length → compares description word counts by fraud label.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578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</a:defRPr>
            </a:pPr>
            <a:r>
              <a:t>Industry visualization → shows fraudulent-label proportion across the 10 most common industries.</a:t>
            </a:r>
          </a:p>
        </p:txBody>
      </p:sp>
      <p:pic>
        <p:nvPicPr>
          <p:cNvPr id="12" name="Picture 11" descr="chart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5532120"/>
            <a:ext cx="6675120" cy="1143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8136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63F"/>
                </a:solidFill>
              </a:defRPr>
            </a:pPr>
            <a:r>
              <a:t>Key Insights, Recommendations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9848"/>
            <a:ext cx="11155680" cy="32004"/>
          </a:xfrm>
          <a:prstGeom prst="rect">
            <a:avLst/>
          </a:prstGeom>
          <a:solidFill>
            <a:srgbClr val="2B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B5F91"/>
                </a:solidFill>
              </a:defRPr>
            </a:pPr>
            <a:r>
              <a:t>Key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50">
                <a:solidFill>
                  <a:srgbClr val="232A32"/>
                </a:solidFill>
              </a:defRPr>
            </a:pPr>
            <a:r>
              <a:t>The labelled dataset is imbalanced: 95.11% genuine vs 4.89% fraudulent.</a:t>
            </a:r>
          </a:p>
          <a:p>
            <a:pPr>
              <a:spcAft>
                <a:spcPts val="900"/>
              </a:spcAft>
              <a:defRPr sz="1350">
                <a:solidFill>
                  <a:srgbClr val="232A32"/>
                </a:solidFill>
              </a:defRPr>
            </a:pPr>
            <a:r>
              <a:t>Postings without a company logo had a 15.98% fraudulent proportion, compared with 2.10% for postings with a logo.</a:t>
            </a:r>
          </a:p>
          <a:p>
            <a:pPr>
              <a:spcAft>
                <a:spcPts val="900"/>
              </a:spcAft>
              <a:defRPr sz="1350">
                <a:solidFill>
                  <a:srgbClr val="232A32"/>
                </a:solidFill>
              </a:defRPr>
            </a:pPr>
            <a:r>
              <a:t>Fraudulent postings had lower median description word count (114) than genuine postings (147).</a:t>
            </a:r>
          </a:p>
          <a:p>
            <a:pPr>
              <a:spcAft>
                <a:spcPts val="900"/>
              </a:spcAft>
              <a:defRPr sz="1350">
                <a:solidFill>
                  <a:srgbClr val="232A32"/>
                </a:solidFill>
              </a:defRPr>
            </a:pPr>
            <a:r>
              <a:t>The Chi-Square test gave χ² = 1592.44, df = 1, p = 0.0, and the notebook reports evidence of an association between logo presence and the fraud label.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08775"/>
                </a:solidFill>
              </a:defRPr>
            </a:pPr>
            <a:r>
              <a:t>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691640"/>
            <a:ext cx="5257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50">
                <a:solidFill>
                  <a:srgbClr val="232A32"/>
                </a:solidFill>
              </a:defRPr>
            </a:pPr>
            <a:r>
              <a:t>Use company-logo presence as one recruitment-related indicator when examining fraud patterns.</a:t>
            </a:r>
          </a:p>
          <a:p>
            <a:pPr>
              <a:spcAft>
                <a:spcPts val="900"/>
              </a:spcAft>
              <a:defRPr sz="1350">
                <a:solidFill>
                  <a:srgbClr val="232A32"/>
                </a:solidFill>
              </a:defRPr>
            </a:pPr>
            <a:r>
              <a:t>Consider text characteristics as additional features for further investigation.</a:t>
            </a:r>
          </a:p>
          <a:p>
            <a:pPr>
              <a:spcAft>
                <a:spcPts val="900"/>
              </a:spcAft>
              <a:defRPr sz="1350">
                <a:solidFill>
                  <a:srgbClr val="232A32"/>
                </a:solidFill>
              </a:defRPr>
            </a:pPr>
            <a:r>
              <a:t>Interpret industry-level patterns alongside the number of records in each category.</a:t>
            </a:r>
          </a:p>
          <a:p>
            <a:pPr>
              <a:spcAft>
                <a:spcPts val="900"/>
              </a:spcAft>
              <a:defRPr sz="1350">
                <a:solidFill>
                  <a:srgbClr val="232A32"/>
                </a:solidFill>
              </a:defRPr>
            </a:pPr>
            <a:r>
              <a:t>Keep missing fraud labels separate rather than treating them as genuine.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800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6263F"/>
                </a:solidFill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23036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A32"/>
                </a:solidFill>
              </a:defRPr>
            </a:pPr>
            <a:r>
              <a:t>The project completed data loading, quality assessment, cleaning, transformation, EDA, visualization and statistical testing. The results describe associations and observed patterns in the available job-posting data; they do not prove that any single characteristic causes a posting to be fraudulent.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1447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F91"/>
                </a:solidFill>
              </a:defRPr>
            </a:pPr>
            <a:r>
              <a:t>Future scope: further investigation and automated job-posting risk assessment.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442845" y="2751455"/>
            <a:ext cx="7305040" cy="1669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IN" altLang="en-GB" sz="8000">
                <a:latin typeface="Times New Roman" panose="02020603050405020304" charset="0"/>
                <a:cs typeface="Times New Roman" panose="02020603050405020304" charset="0"/>
              </a:rPr>
              <a:t>THANK YOU</a:t>
            </a:r>
            <a:endParaRPr lang="en-IN" altLang="en-GB" sz="8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7032</Words>
  <Application>WPS Presentation</Application>
  <PresentationFormat>On-screen Show (4:3)</PresentationFormat>
  <Paragraphs>234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Arial Black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PRIYADHARSHAN S</cp:lastModifiedBy>
  <cp:revision>2</cp:revision>
  <dcterms:created xsi:type="dcterms:W3CDTF">2013-01-27T09:14:00Z</dcterms:created>
  <dcterms:modified xsi:type="dcterms:W3CDTF">2026-10-06T17:28:53Z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725D0262AEB849C099C07FE2693C4133_12</vt:lpwstr>
  </property>
  <property fmtid="{D5CDD505-2E9C-101B-9397-08002B2CF9AE}" pid="3" name="KSOProductBuildVer">
    <vt:lpwstr>2057-12.2.0.23206</vt:lpwstr>
  </property>
</Properties>
</file>